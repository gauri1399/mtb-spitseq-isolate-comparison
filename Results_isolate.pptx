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2" r:id="rId5"/>
    <p:sldId id="259" r:id="rId6"/>
    <p:sldId id="264" r:id="rId7"/>
    <p:sldId id="265" r:id="rId8"/>
    <p:sldId id="263" r:id="rId9"/>
    <p:sldId id="266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2436"/>
  </p:normalViewPr>
  <p:slideViewPr>
    <p:cSldViewPr snapToGrid="0">
      <p:cViewPr varScale="1">
        <p:scale>
          <a:sx n="93" d="100"/>
          <a:sy n="93" d="100"/>
        </p:scale>
        <p:origin x="21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D49A7-3725-244F-8E53-7D0651C61B21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F28E7-DD2C-CF41-A014-94531FA5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7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F28E7-DD2C-CF41-A014-94531FA51D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51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F28E7-DD2C-CF41-A014-94531FA51D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6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BF4A-4250-D3BE-40F4-C44D9690F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4743C-E4E2-311B-3CD3-E2AB335DD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0C9D7-91FD-F8A9-212E-1009C94A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EC58F-6793-3893-8D7F-B946C35F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732C0-4D8E-0A0C-7E9F-AEF2568A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9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3855-3320-2CF6-0F8D-FB9152CD6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08575-3813-C483-130E-FB437C9F5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D9E03-4FB4-00C5-0E9B-DC9B268F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EF0BD-4D5E-96CD-E2FF-CBB83CBB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0A4C9-3FC5-6B18-4B0F-C06EF1CF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0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3563-95FE-195C-56BD-B9CB8562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F0EDC-209B-22E4-C366-6D74E7E13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DBA65-A8C6-E1D0-D96C-E5C51643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EC546-29AB-66E4-AF06-EF4AF9CB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24248-25FE-1FA3-DBBF-62211198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4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0ECC-CC11-EDA9-4D78-993F4DC4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C0CF3-E1D4-40CB-4799-5B9EF1AF7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7B57F-0B1C-4FD2-4BCF-038BA648F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B8BEB-07DA-DEB6-8A35-A638EFE7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599D7-8BE8-85BA-C596-000EB8BC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081B5-53C0-D70C-5F7B-286A3743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0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A225-04D7-ED27-2C5F-88FE4EF3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8A640-05BE-2F2D-D69F-127EF65D0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695AA-3066-5718-F852-A4E3DDC9F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A3A38-723E-299C-C09B-3962E8BE3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EB8B77-7A93-AB2E-46FD-C83C816D1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BB6AF-15FB-ACE7-562F-2A26987FB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F4D1A-F3A9-1EF5-4B72-5C35DE5F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917E7-4F5A-2F13-581C-DF2D6DF2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7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B1D4-E0E9-4561-2A32-B482DC22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13280-237C-565E-B5B1-42057B90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D84B8-171E-4189-AFC6-E03AFA21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92794-4C2F-F90F-A92C-DBF59DD4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2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DF1A8-FF52-B1E0-AEB3-FA88E167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D60D6-52AD-FD00-11BA-39C9C0DD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178DE-DEA9-C0EB-D1D3-6EDE9534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1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1CF4-2E9B-423C-36A6-8E3487C1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98341-DE52-5B7C-C3B0-803F6710C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5D831-FA30-4DF9-F814-9758888B9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4DF88-FC6E-5FFB-3503-6466B087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968C1-C85C-418F-BCAC-6AC73FFD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C2F43-AED4-9F86-ED15-D67666E0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2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5001-BE7E-073C-F4AC-2DBDB1B4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14679-B532-3A8B-DBDA-5DFAEEE64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B39CE-78B3-C98D-9D73-727894D1E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6E0E8-F820-B5B2-3B69-DBC4E271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A48C7-7178-08C4-30BF-324DBFEA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2CD0E-0DD4-2FDF-AAD0-24D8A232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4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40BF-4D20-B110-12CC-F3D77D86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19ABF-B582-0F9C-79CE-6818E5FB2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4513-EDBA-B78B-5171-E3160DB2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19E7-AFBC-0633-A9AE-7116625EE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F4301-2F9D-3CD2-8744-A5FBCC61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4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DDE4F-354F-D5B7-44B9-7AEAA7BB7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53FAE-AB32-8FC0-C8D7-DA4E7283E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60BCB-D9E2-3F45-E631-3E275494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77A5-269D-D1E4-B9A4-C4D224960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BD058-95C5-0507-7D30-03ABA426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69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E7B57-602D-D54B-30E8-FD0AAF05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4035B-C902-B10E-6099-54442660E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CB3C0-8E2D-D0E4-B321-A24EE54EE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9DFF7-6B60-6541-9E9A-44EAB84DE83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89219-AEC4-9B42-D285-09468AC72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AADB4-6FF8-E741-2A09-5B703459A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D274D-560D-6F41-86EB-B6EAE4F76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23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0207D-5E9D-1B43-252C-E3D7245C4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6569"/>
            <a:ext cx="9144000" cy="909267"/>
          </a:xfrm>
        </p:spPr>
        <p:txBody>
          <a:bodyPr>
            <a:normAutofit/>
          </a:bodyPr>
          <a:lstStyle/>
          <a:p>
            <a:r>
              <a:rPr lang="en-US" sz="4400" dirty="0"/>
              <a:t>MTB Isolate vs </a:t>
            </a:r>
            <a:r>
              <a:rPr lang="en-US" sz="4400"/>
              <a:t>SpitSeq </a:t>
            </a:r>
            <a:r>
              <a:rPr lang="en-US" sz="4400" dirty="0"/>
              <a:t>Sample Analysis</a:t>
            </a:r>
          </a:p>
        </p:txBody>
      </p:sp>
    </p:spTree>
    <p:extLst>
      <p:ext uri="{BB962C8B-B14F-4D97-AF65-F5344CB8AC3E}">
        <p14:creationId xmlns:p14="http://schemas.microsoft.com/office/powerpoint/2010/main" val="1939754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311D-C975-0A5B-BFAA-BDD73456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533"/>
            <a:ext cx="10515600" cy="1325563"/>
          </a:xfrm>
        </p:spPr>
        <p:txBody>
          <a:bodyPr/>
          <a:lstStyle/>
          <a:p>
            <a:r>
              <a:rPr lang="en-US" sz="4000" b="1" dirty="0"/>
              <a:t>Project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2E159-7DB6-F266-105F-25323B3F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20"/>
            <a:ext cx="10515600" cy="477567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Objective: </a:t>
            </a:r>
            <a:r>
              <a:rPr lang="en-US" sz="2000" dirty="0"/>
              <a:t>Analyze MTB isolate samples for variants using WGS data.</a:t>
            </a:r>
          </a:p>
          <a:p>
            <a:pPr marL="0" indent="0">
              <a:buNone/>
            </a:pPr>
            <a:endParaRPr lang="en-US" sz="1300" b="1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Steps:</a:t>
            </a:r>
          </a:p>
          <a:p>
            <a:r>
              <a:rPr lang="en-US" sz="2200" b="1" dirty="0"/>
              <a:t>Identify drug-resistance markers:</a:t>
            </a:r>
            <a:r>
              <a:rPr lang="en-US" sz="2200" dirty="0"/>
              <a:t> Particular SNPs that occur in genes develop resistance to antibiotics (e.g., </a:t>
            </a:r>
            <a:r>
              <a:rPr lang="en-US" sz="2200" i="1" dirty="0" err="1"/>
              <a:t>rpoB</a:t>
            </a:r>
            <a:r>
              <a:rPr lang="en-US" sz="2200" dirty="0"/>
              <a:t> for rifampicin, </a:t>
            </a:r>
            <a:r>
              <a:rPr lang="en-US" sz="2200" i="1" dirty="0" err="1"/>
              <a:t>katG</a:t>
            </a:r>
            <a:r>
              <a:rPr lang="en-US" sz="2200" dirty="0"/>
              <a:t> for isoniazid). Detecting these helps predict drug susceptibility.</a:t>
            </a:r>
          </a:p>
          <a:p>
            <a:r>
              <a:rPr lang="en-US" sz="2200" b="1" dirty="0"/>
              <a:t>Study evolution and lineage:</a:t>
            </a:r>
            <a:r>
              <a:rPr lang="en-US" sz="2200" dirty="0"/>
              <a:t> SNP patterns help classify isolates into lineages and understand evolutionary relationships between strains.</a:t>
            </a:r>
          </a:p>
          <a:p>
            <a:r>
              <a:rPr lang="en-US" sz="2200" b="1" dirty="0"/>
              <a:t>Track outbreaks:</a:t>
            </a:r>
            <a:r>
              <a:rPr lang="en-US" sz="2200" dirty="0"/>
              <a:t> Comparing SNP profiles across isolates can reveal transmission chains in a population.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846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DC60-DA88-518C-506A-7BE23D60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0001-380D-4480-AD5D-1B7DA09E0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Raw Read QC:</a:t>
            </a:r>
            <a:r>
              <a:rPr lang="en-US" sz="1600" dirty="0"/>
              <a:t> Assess sequencing quality and identify potential issues in raw FASTQ files using </a:t>
            </a:r>
            <a:r>
              <a:rPr lang="en-US" sz="1600" b="1" dirty="0" err="1"/>
              <a:t>FastQC</a:t>
            </a:r>
            <a:r>
              <a:rPr lang="en-US" sz="1600" dirty="0"/>
              <a:t>. </a:t>
            </a:r>
          </a:p>
          <a:p>
            <a:r>
              <a:rPr lang="en-US" sz="1600" b="1" dirty="0"/>
              <a:t>Read Trimming:</a:t>
            </a:r>
            <a:r>
              <a:rPr lang="en-US" sz="1600" dirty="0"/>
              <a:t> Remove sequencing adapters and low-quality bases using </a:t>
            </a:r>
            <a:r>
              <a:rPr lang="en-US" sz="1600" b="1" dirty="0" err="1"/>
              <a:t>Trimmomatic</a:t>
            </a:r>
            <a:r>
              <a:rPr lang="en-US" sz="1600" dirty="0"/>
              <a:t>. </a:t>
            </a:r>
          </a:p>
          <a:p>
            <a:r>
              <a:rPr lang="en-US" sz="1600" b="1" dirty="0"/>
              <a:t>Post-Trim QC:</a:t>
            </a:r>
            <a:r>
              <a:rPr lang="en-US" sz="1600" dirty="0"/>
              <a:t> Reassess read quality with </a:t>
            </a:r>
            <a:r>
              <a:rPr lang="en-US" sz="1600" b="1" dirty="0" err="1"/>
              <a:t>FastQC</a:t>
            </a:r>
            <a:r>
              <a:rPr lang="en-US" sz="1600" dirty="0"/>
              <a:t> to confirm successful preprocessing. </a:t>
            </a:r>
          </a:p>
          <a:p>
            <a:r>
              <a:rPr lang="en-US" sz="1600" b="1" dirty="0"/>
              <a:t>Read Alignment:</a:t>
            </a:r>
            <a:r>
              <a:rPr lang="en-US" sz="1600" dirty="0"/>
              <a:t> Align cleaned reads to the </a:t>
            </a:r>
            <a:r>
              <a:rPr lang="en-US" sz="1600" i="1" dirty="0"/>
              <a:t>M. tuberculosis</a:t>
            </a:r>
            <a:r>
              <a:rPr lang="en-US" sz="1600" dirty="0"/>
              <a:t> </a:t>
            </a:r>
            <a:r>
              <a:rPr lang="en-US" sz="1600" b="1" dirty="0"/>
              <a:t>H37Rv reference genome</a:t>
            </a:r>
            <a:r>
              <a:rPr lang="en-US" sz="1600" dirty="0"/>
              <a:t> using </a:t>
            </a:r>
            <a:r>
              <a:rPr lang="en-US" sz="1600" b="1" dirty="0"/>
              <a:t>BWA-MEM</a:t>
            </a:r>
            <a:r>
              <a:rPr lang="en-US" sz="1600" dirty="0"/>
              <a:t>. </a:t>
            </a:r>
          </a:p>
          <a:p>
            <a:r>
              <a:rPr lang="en-US" sz="1600" b="1" dirty="0"/>
              <a:t>BAM Processing:</a:t>
            </a:r>
            <a:r>
              <a:rPr lang="en-US" sz="1600" dirty="0"/>
              <a:t> Add read-group information and identify PCR duplicates using </a:t>
            </a:r>
            <a:r>
              <a:rPr lang="en-US" sz="1600" b="1" dirty="0"/>
              <a:t>GATK </a:t>
            </a:r>
            <a:r>
              <a:rPr lang="en-US" sz="1600" b="1" dirty="0" err="1"/>
              <a:t>MarkDuplicates</a:t>
            </a:r>
            <a:r>
              <a:rPr lang="en-US" sz="1600" dirty="0"/>
              <a:t>, generating processed BAM files for downstream analysis. </a:t>
            </a:r>
          </a:p>
          <a:p>
            <a:r>
              <a:rPr lang="en-US" sz="1600" b="1" dirty="0"/>
              <a:t>Variant Calling:</a:t>
            </a:r>
            <a:r>
              <a:rPr lang="en-US" sz="1600" dirty="0"/>
              <a:t> Identify genomic variants using </a:t>
            </a:r>
            <a:r>
              <a:rPr lang="en-US" sz="1600" b="1" dirty="0"/>
              <a:t>GATK </a:t>
            </a:r>
            <a:r>
              <a:rPr lang="en-US" sz="1600" b="1" dirty="0" err="1"/>
              <a:t>HaplotypeCaller</a:t>
            </a:r>
            <a:r>
              <a:rPr lang="en-US" sz="1600" dirty="0"/>
              <a:t> with </a:t>
            </a:r>
            <a:r>
              <a:rPr lang="en-US" sz="1600" b="1" dirty="0"/>
              <a:t>ploidy = 1</a:t>
            </a:r>
            <a:r>
              <a:rPr lang="en-US" sz="1600" dirty="0"/>
              <a:t>, reflecting the haploid nature of </a:t>
            </a:r>
            <a:r>
              <a:rPr lang="en-US" sz="1600" i="1" dirty="0"/>
              <a:t>M. tuberculosis</a:t>
            </a:r>
            <a:r>
              <a:rPr lang="en-US" sz="1600" dirty="0"/>
              <a:t>. </a:t>
            </a:r>
          </a:p>
          <a:p>
            <a:r>
              <a:rPr lang="en-US" sz="1600" b="1" dirty="0"/>
              <a:t>Variant Filtering:</a:t>
            </a:r>
            <a:r>
              <a:rPr lang="en-US" sz="1600" dirty="0"/>
              <a:t> Retain high-confidence variants by filtering based on </a:t>
            </a:r>
            <a:r>
              <a:rPr lang="en-US" sz="1600" b="1" dirty="0"/>
              <a:t>variant quality (QUAL ≥ 20)</a:t>
            </a:r>
            <a:r>
              <a:rPr lang="en-US" sz="1600" dirty="0"/>
              <a:t> and </a:t>
            </a:r>
            <a:r>
              <a:rPr lang="en-US" sz="1600" b="1" dirty="0"/>
              <a:t>read depth (DP ≥ 10)</a:t>
            </a:r>
            <a:r>
              <a:rPr lang="en-US" sz="1600" dirty="0"/>
              <a:t>. </a:t>
            </a:r>
          </a:p>
          <a:p>
            <a:r>
              <a:rPr lang="en-US" sz="1600" b="1" dirty="0"/>
              <a:t>Drug-Resistance Annotation:</a:t>
            </a:r>
            <a:r>
              <a:rPr lang="en-US" sz="1600" dirty="0"/>
              <a:t> Annotate variants using </a:t>
            </a:r>
            <a:r>
              <a:rPr lang="en-US" sz="1600" b="1" dirty="0"/>
              <a:t>TB-Profiler</a:t>
            </a:r>
            <a:r>
              <a:rPr lang="en-US" sz="1600" dirty="0"/>
              <a:t> to identify mutations associated with </a:t>
            </a:r>
            <a:r>
              <a:rPr lang="en-US" sz="1600" b="1" dirty="0"/>
              <a:t>antimicrobial drug resistance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55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4B16-042F-E2BB-61C8-DB2E25B5C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557"/>
            <a:ext cx="10515600" cy="1325563"/>
          </a:xfrm>
        </p:spPr>
        <p:txBody>
          <a:bodyPr/>
          <a:lstStyle/>
          <a:p>
            <a:r>
              <a:rPr lang="en-US" dirty="0"/>
              <a:t>Tb profiler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2B0DE-B30E-72A2-F9B6-7A2F47026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470" y="1567120"/>
            <a:ext cx="6278104" cy="5000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TB-Profiler generates: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drug resistance predictions – gene, type,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lineage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variant reports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Drug resistance predictions include mutations associated with resistance to:</a:t>
            </a:r>
          </a:p>
          <a:p>
            <a:r>
              <a:rPr lang="en-US" sz="1400" b="0" i="0" dirty="0">
                <a:solidFill>
                  <a:srgbClr val="242424"/>
                </a:solidFill>
                <a:effectLst/>
                <a:latin typeface="inherit"/>
              </a:rPr>
              <a:t>First line drugs = isoniazid, rifampin, ethambutol, pyrazinamide</a:t>
            </a:r>
          </a:p>
          <a:p>
            <a:r>
              <a:rPr lang="en-US" sz="1400" b="0" i="0" dirty="0">
                <a:solidFill>
                  <a:srgbClr val="242424"/>
                </a:solidFill>
                <a:effectLst/>
                <a:latin typeface="inherit"/>
              </a:rPr>
              <a:t>Group A Drugs = </a:t>
            </a:r>
            <a:r>
              <a:rPr lang="en-US" sz="1400" b="0" i="0" dirty="0" err="1">
                <a:solidFill>
                  <a:srgbClr val="242424"/>
                </a:solidFill>
                <a:effectLst/>
                <a:latin typeface="inherit"/>
              </a:rPr>
              <a:t>bedaquiline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inherit"/>
              </a:rPr>
              <a:t>, linezolid, moxifloxacin, levofloxacin</a:t>
            </a:r>
            <a:endParaRPr lang="en-US" sz="1400" b="0" i="0" dirty="0">
              <a:solidFill>
                <a:srgbClr val="242424"/>
              </a:solidFill>
              <a:effectLst/>
              <a:latin typeface="Aptos" panose="020B0004020202020204" pitchFamily="34" charset="0"/>
            </a:endParaRPr>
          </a:p>
          <a:p>
            <a:r>
              <a:rPr lang="en-US" sz="1400" b="0" i="0" dirty="0">
                <a:solidFill>
                  <a:srgbClr val="242424"/>
                </a:solidFill>
                <a:effectLst/>
                <a:latin typeface="inherit"/>
              </a:rPr>
              <a:t>Group B Drugs = clofazimine, </a:t>
            </a:r>
            <a:r>
              <a:rPr lang="en-US" sz="1400" b="0" i="0" dirty="0" err="1">
                <a:solidFill>
                  <a:srgbClr val="242424"/>
                </a:solidFill>
                <a:effectLst/>
                <a:latin typeface="inherit"/>
              </a:rPr>
              <a:t>cycloserine</a:t>
            </a:r>
            <a:endParaRPr lang="en-US" sz="1400" b="0" i="0" dirty="0">
              <a:solidFill>
                <a:srgbClr val="242424"/>
              </a:solidFill>
              <a:effectLst/>
              <a:latin typeface="Aptos" panose="020B0004020202020204" pitchFamily="34" charset="0"/>
            </a:endParaRPr>
          </a:p>
          <a:p>
            <a:r>
              <a:rPr lang="en-US" sz="1400" b="0" i="0" dirty="0">
                <a:solidFill>
                  <a:srgbClr val="242424"/>
                </a:solidFill>
                <a:effectLst/>
                <a:latin typeface="inherit"/>
              </a:rPr>
              <a:t>Group C Drugs = </a:t>
            </a:r>
            <a:r>
              <a:rPr lang="en-US" sz="1400" b="0" i="0" dirty="0" err="1">
                <a:solidFill>
                  <a:srgbClr val="242424"/>
                </a:solidFill>
                <a:effectLst/>
                <a:latin typeface="inherit"/>
              </a:rPr>
              <a:t>pretomanid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inherit"/>
              </a:rPr>
              <a:t>, </a:t>
            </a:r>
            <a:r>
              <a:rPr lang="en-US" sz="1400" b="0" i="0" dirty="0" err="1">
                <a:solidFill>
                  <a:srgbClr val="242424"/>
                </a:solidFill>
                <a:effectLst/>
                <a:latin typeface="inherit"/>
              </a:rPr>
              <a:t>delamanid</a:t>
            </a:r>
            <a:r>
              <a:rPr lang="en-US" sz="1400" dirty="0">
                <a:solidFill>
                  <a:srgbClr val="242424"/>
                </a:solidFill>
                <a:latin typeface="inherit"/>
              </a:rPr>
              <a:t>, 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inherit"/>
              </a:rPr>
              <a:t>amikacin, streptomycin, ethionamide, PAS </a:t>
            </a:r>
          </a:p>
          <a:p>
            <a:r>
              <a:rPr lang="en-US" sz="1400" b="0" i="0" dirty="0">
                <a:solidFill>
                  <a:srgbClr val="242424"/>
                </a:solidFill>
                <a:effectLst/>
                <a:latin typeface="inherit"/>
              </a:rPr>
              <a:t>No longer recommended = kanamycin, capreomycin</a:t>
            </a: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endParaRPr lang="en-US" sz="1200" b="0" i="0" dirty="0">
              <a:solidFill>
                <a:srgbClr val="242424"/>
              </a:solidFill>
              <a:effectLst/>
              <a:latin typeface="Aptos" panose="020B0004020202020204" pitchFamily="34" charset="0"/>
            </a:endParaRPr>
          </a:p>
          <a:p>
            <a:endParaRPr lang="en-US" sz="1200" dirty="0"/>
          </a:p>
        </p:txBody>
      </p:sp>
      <p:pic>
        <p:nvPicPr>
          <p:cNvPr id="6" name="Content Placeholder 4" descr="A screenshot of a medical form&#10;&#10;AI-generated content may be incorrect.">
            <a:extLst>
              <a:ext uri="{FF2B5EF4-FFF2-40B4-BE49-F238E27FC236}">
                <a16:creationId xmlns:a16="http://schemas.microsoft.com/office/drawing/2014/main" id="{28C9FB92-C0D5-D4F3-9B89-367F38008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574" y="1567120"/>
            <a:ext cx="5014280" cy="46358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CE307B-CE21-0E23-6778-4CD837252739}"/>
              </a:ext>
            </a:extLst>
          </p:cNvPr>
          <p:cNvSpPr txBox="1"/>
          <p:nvPr/>
        </p:nvSpPr>
        <p:spPr>
          <a:xfrm>
            <a:off x="7424534" y="6291004"/>
            <a:ext cx="4065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Table 1: Grouping of medicines based on MDR-TB regimens </a:t>
            </a:r>
          </a:p>
        </p:txBody>
      </p:sp>
    </p:spTree>
    <p:extLst>
      <p:ext uri="{BB962C8B-B14F-4D97-AF65-F5344CB8AC3E}">
        <p14:creationId xmlns:p14="http://schemas.microsoft.com/office/powerpoint/2010/main" val="317028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7317-092F-2C86-6D04-44541A82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278628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006EF-3FAA-9875-136F-172AC65C48FB}"/>
              </a:ext>
            </a:extLst>
          </p:cNvPr>
          <p:cNvSpPr txBox="1"/>
          <p:nvPr/>
        </p:nvSpPr>
        <p:spPr>
          <a:xfrm>
            <a:off x="8958649" y="1874728"/>
            <a:ext cx="30478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Quantify genomic variation across MTB isolates</a:t>
            </a:r>
          </a:p>
          <a:p>
            <a:endParaRPr lang="en-US" sz="1400" b="1" dirty="0"/>
          </a:p>
          <a:p>
            <a:r>
              <a:rPr lang="en-US" sz="1400" b="1" dirty="0"/>
              <a:t>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Most isolates contained ~50-60 relevant SNPs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Fixed SNPs comprised the majority of detected variants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Mixed SNPs varied across isolates </a:t>
            </a:r>
          </a:p>
          <a:p>
            <a:endParaRPr lang="en-US" sz="1400" b="1" dirty="0"/>
          </a:p>
          <a:p>
            <a:r>
              <a:rPr lang="en-US" sz="1400" b="1" dirty="0"/>
              <a:t>Takeaway</a:t>
            </a:r>
            <a:endParaRPr lang="en-US" sz="1400" dirty="0"/>
          </a:p>
          <a:p>
            <a:r>
              <a:rPr lang="en-US" sz="1400" dirty="0"/>
              <a:t>Isolates show substantial genomic variation with differences in within-sample diversity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BEFE9-2C10-DF85-CD75-8C4A75FD60B5}"/>
              </a:ext>
            </a:extLst>
          </p:cNvPr>
          <p:cNvSpPr txBox="1"/>
          <p:nvPr/>
        </p:nvSpPr>
        <p:spPr>
          <a:xfrm>
            <a:off x="1940011" y="6302373"/>
            <a:ext cx="4930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/>
              <a:t>Fig</a:t>
            </a:r>
            <a:r>
              <a:rPr lang="en-US" sz="1200" i="1" dirty="0"/>
              <a:t> </a:t>
            </a:r>
            <a:r>
              <a:rPr lang="en-US" sz="1200" b="1" i="1" dirty="0"/>
              <a:t>1: </a:t>
            </a:r>
            <a:r>
              <a:rPr lang="en-US" sz="1200" i="1" dirty="0"/>
              <a:t>Displays number of fixed vs mixed SNPs across samples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C812F4-C4BD-451E-4656-D6167DF5A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01" y="1604191"/>
            <a:ext cx="8428526" cy="437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779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BD8F91-3B59-7DC6-21E0-FC7F66497812}"/>
              </a:ext>
            </a:extLst>
          </p:cNvPr>
          <p:cNvSpPr txBox="1"/>
          <p:nvPr/>
        </p:nvSpPr>
        <p:spPr>
          <a:xfrm>
            <a:off x="676533" y="623473"/>
            <a:ext cx="60980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B1A67-E757-CB41-427F-1AAC8DC1E932}"/>
              </a:ext>
            </a:extLst>
          </p:cNvPr>
          <p:cNvSpPr txBox="1"/>
          <p:nvPr/>
        </p:nvSpPr>
        <p:spPr>
          <a:xfrm>
            <a:off x="5724379" y="6395165"/>
            <a:ext cx="4473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Fig 2: Mutation category based on patient (sample data)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03D09-BD18-573B-AB7B-A6340EF914C4}"/>
              </a:ext>
            </a:extLst>
          </p:cNvPr>
          <p:cNvSpPr txBox="1"/>
          <p:nvPr/>
        </p:nvSpPr>
        <p:spPr>
          <a:xfrm>
            <a:off x="383058" y="1856764"/>
            <a:ext cx="361869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Characterize and assess the functional consequences of mutation types across isolates </a:t>
            </a:r>
          </a:p>
          <a:p>
            <a:endParaRPr lang="en-US" sz="1400" b="1" dirty="0"/>
          </a:p>
          <a:p>
            <a:r>
              <a:rPr lang="en-US" sz="1400" b="1" dirty="0"/>
              <a:t>Outcome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Silent and missense mutations were most abundant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Protein-disrupting mutations and indels occurred less frequently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Mutation burden and composition varied across isolates </a:t>
            </a:r>
          </a:p>
          <a:p>
            <a:endParaRPr lang="en-US" sz="1400" b="1" dirty="0"/>
          </a:p>
          <a:p>
            <a:r>
              <a:rPr lang="en-US" sz="1400" b="1" dirty="0"/>
              <a:t>Takeaway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Most detected variation is silent or missense, with a smaller subset of potentially higher-impact mutations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80DED5-52C0-D00B-34F3-E2CC7FF8A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751" y="488491"/>
            <a:ext cx="7772400" cy="58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0F32A5E3-2E3F-00A6-2748-48C089E6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95" y="229118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E7F54-ED99-D12D-5761-7E5859136507}"/>
              </a:ext>
            </a:extLst>
          </p:cNvPr>
          <p:cNvSpPr txBox="1"/>
          <p:nvPr/>
        </p:nvSpPr>
        <p:spPr>
          <a:xfrm>
            <a:off x="3571102" y="6352393"/>
            <a:ext cx="65346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/>
              <a:t>Fig 3 : </a:t>
            </a:r>
            <a:r>
              <a:rPr lang="en-US" sz="1200" i="1" dirty="0"/>
              <a:t>This chart shows resistance to different drugs with respect to each patient (sample data)</a:t>
            </a:r>
          </a:p>
          <a:p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9E77AB-4BF6-3B06-01EC-ED9868D8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345" y="1261366"/>
            <a:ext cx="9806837" cy="509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4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E59990-0DE1-D403-EA1B-C9E7CB694CA8}"/>
              </a:ext>
            </a:extLst>
          </p:cNvPr>
          <p:cNvSpPr txBox="1"/>
          <p:nvPr/>
        </p:nvSpPr>
        <p:spPr>
          <a:xfrm>
            <a:off x="358709" y="439350"/>
            <a:ext cx="60980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70F9B-3D2A-B3C1-8363-871FFBD0A6F8}"/>
              </a:ext>
            </a:extLst>
          </p:cNvPr>
          <p:cNvSpPr txBox="1"/>
          <p:nvPr/>
        </p:nvSpPr>
        <p:spPr>
          <a:xfrm>
            <a:off x="253780" y="2576171"/>
            <a:ext cx="22406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Depicts the resistance profile of each cultured isolate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Provides a reference for determining whether SPIT-SEQ detects the same resistance-associated mutations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C425F-B5E4-A0A7-274E-006DAEC40CD7}"/>
              </a:ext>
            </a:extLst>
          </p:cNvPr>
          <p:cNvSpPr txBox="1"/>
          <p:nvPr/>
        </p:nvSpPr>
        <p:spPr>
          <a:xfrm>
            <a:off x="4682725" y="6339028"/>
            <a:ext cx="60980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/>
              <a:t>Fig 4: </a:t>
            </a:r>
            <a:r>
              <a:rPr lang="en-US" sz="1200" i="1" dirty="0"/>
              <a:t>Mutations associated with drug resistance across samples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10A309-3D4A-8DC0-FC11-276660A007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609"/>
          <a:stretch/>
        </p:blipFill>
        <p:spPr>
          <a:xfrm>
            <a:off x="2527783" y="562380"/>
            <a:ext cx="7857967" cy="5776648"/>
          </a:xfrm>
          <a:prstGeom prst="rect">
            <a:avLst/>
          </a:prstGeom>
        </p:spPr>
      </p:pic>
      <p:pic>
        <p:nvPicPr>
          <p:cNvPr id="12" name="Picture 11" descr="A group of colored squares&#10;&#10;AI-generated content may be incorrect.">
            <a:extLst>
              <a:ext uri="{FF2B5EF4-FFF2-40B4-BE49-F238E27FC236}">
                <a16:creationId xmlns:a16="http://schemas.microsoft.com/office/drawing/2014/main" id="{85E1E23F-AAAD-9CC5-4A81-A6C1875FA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620" y="2895600"/>
            <a:ext cx="1625380" cy="126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9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C6AE-D98B-B083-0443-AC22B1A5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18CDA-C726-8EDB-6DFB-B7B59C55C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Key Findings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Substantial genomic variation was observed across MTB isolates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Drug-resistance profiles differed between isolates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Most mutations were silent or missense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Multiple recurrent resistance-associated mutations were identified 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Relevance to SPIT-SEQ vs. Isolate WGS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These results establish the genomic and resistance profiles of cultured isolates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Comparison with SPIT-SEQ will determine whether direct-from-sputum sequencing captures comparable resistance-associated information 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76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3B965-C7A0-279E-5C11-D187B7C9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AC9FC-89EE-658C-33AC-943357E3B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Process SPIT-SEQ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Identify resistance-associated mutations detected directly from sputum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Compare SPIT-SEQ vs. isolate WGS at the mutation level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Evaluate shared, missed, and uniquely detected variants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Assess detection of mixed variants and their potential impact on resistance profiling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Quantify concordance between the two sequencing approaches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4784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2638</TotalTime>
  <Words>604</Words>
  <Application>Microsoft Macintosh PowerPoint</Application>
  <PresentationFormat>Widescreen</PresentationFormat>
  <Paragraphs>81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inherit</vt:lpstr>
      <vt:lpstr>Office Theme</vt:lpstr>
      <vt:lpstr>MTB Isolate vs SpitSeq Sample Analysis</vt:lpstr>
      <vt:lpstr>Project Overview </vt:lpstr>
      <vt:lpstr>Pipeline</vt:lpstr>
      <vt:lpstr>Tb profiler</vt:lpstr>
      <vt:lpstr>Results</vt:lpstr>
      <vt:lpstr>PowerPoint Presentation</vt:lpstr>
      <vt:lpstr>Results</vt:lpstr>
      <vt:lpstr>PowerPoint Presentation</vt:lpstr>
      <vt:lpstr>Discussion</vt:lpstr>
      <vt:lpstr>Future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Gauri Agrawal</dc:creator>
  <cp:lastModifiedBy>Gauri Agrawal</cp:lastModifiedBy>
  <cp:revision>11</cp:revision>
  <dcterms:created xsi:type="dcterms:W3CDTF">2026-02-11T05:04:38Z</dcterms:created>
  <dcterms:modified xsi:type="dcterms:W3CDTF">2026-09-14T22:13:20Z</dcterms:modified>
</cp:coreProperties>
</file>